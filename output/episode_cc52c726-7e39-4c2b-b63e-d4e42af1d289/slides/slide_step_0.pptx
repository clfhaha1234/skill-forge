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92608" cy="6803136"/>
          </a:xfrm>
          <a:prstGeom prst="rect">
            <a:avLst/>
          </a:prstGeom>
          <a:solidFill>
            <a:srgbClr val="063940"/>
          </a:solidFill>
          <a:ln w="12700">
            <a:solidFill>
              <a:srgbClr val="0639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54864"/>
            <a:ext cx="22860" cy="68031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-260604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STRATEGY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256032"/>
            <a:ext cx="54864" cy="256032"/>
          </a:xfrm>
          <a:prstGeom prst="rect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512064"/>
            <a:ext cx="54864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768096"/>
            <a:ext cx="54864" cy="256032"/>
          </a:xfrm>
          <a:prstGeom prst="rect">
            <a:avLst/>
          </a:prstGeom>
          <a:solidFill>
            <a:srgbClr val="1A4898"/>
          </a:solidFill>
          <a:ln w="12700">
            <a:solidFill>
              <a:srgbClr val="1A48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774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Dutch Hydrogen Strategy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8368" y="713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2035  |  National Roadmap &amp; Investment Milestones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0" y="2743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|  CONFIDENTIAL DRAFT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078992"/>
            <a:ext cx="11384280" cy="0"/>
          </a:xfrm>
          <a:prstGeom prst="line">
            <a:avLst/>
          </a:prstGeom>
          <a:noFill/>
          <a:ln w="12700">
            <a:solidFill>
              <a:srgbClr val="0A5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20340"/>
            <a:ext cx="1110996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0939" y="2029968"/>
            <a:ext cx="21946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62456" y="2523744"/>
            <a:ext cx="438912" cy="43891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2578608"/>
            <a:ext cx="329184" cy="32918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42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25968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79576" y="228600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22860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4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" y="512064"/>
            <a:ext cx="1883664" cy="155448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75488"/>
            <a:ext cx="1883664" cy="1554480"/>
          </a:xfrm>
          <a:prstGeom prst="rect">
            <a:avLst/>
          </a:prstGeom>
          <a:solidFill>
            <a:srgbClr val="063940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75488"/>
            <a:ext cx="1883664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66928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H₂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8096" y="1097280"/>
            <a:ext cx="1627632" cy="0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1234440"/>
            <a:ext cx="64008" cy="640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11704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white paper published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" y="1490472"/>
            <a:ext cx="64008" cy="640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14264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€35M initial R&amp;D funding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8096" y="1746504"/>
            <a:ext cx="64008" cy="640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168249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MW electrolyser by 2025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5771" y="3072384"/>
            <a:ext cx="21946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47288" y="2523744"/>
            <a:ext cx="438912" cy="438912"/>
          </a:xfrm>
          <a:prstGeom prst="ellipse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02152" y="2578608"/>
            <a:ext cx="329184" cy="32918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42B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5968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64408" y="2962656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29626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4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61488" y="3493008"/>
            <a:ext cx="1883664" cy="155448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24912" y="3456432"/>
            <a:ext cx="1883664" cy="1554480"/>
          </a:xfrm>
          <a:prstGeom prst="rect">
            <a:avLst/>
          </a:prstGeom>
          <a:solidFill>
            <a:srgbClr val="063940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24912" y="3456432"/>
            <a:ext cx="1883664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52928" y="3547872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Hubs Launch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852928" y="4078224"/>
            <a:ext cx="1627632" cy="0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52928" y="4215384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62656" y="415137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Rotterdam H₂ hub operational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852928" y="4471416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62656" y="440740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Sea wind–H₂ pilots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52928" y="4727448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62656" y="46634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IPCEI funding secured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58891" y="2029968"/>
            <a:ext cx="21946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50408" y="2523744"/>
            <a:ext cx="438912" cy="438912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05272" y="2578608"/>
            <a:ext cx="329184" cy="32918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42B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0680" y="25968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67528" y="228600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67528" y="22860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4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864608" y="512064"/>
            <a:ext cx="1883664" cy="155448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28032" y="475488"/>
            <a:ext cx="1883664" cy="1554480"/>
          </a:xfrm>
          <a:prstGeom prst="rect">
            <a:avLst/>
          </a:prstGeom>
          <a:solidFill>
            <a:srgbClr val="06394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28032" y="475488"/>
            <a:ext cx="1883664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56048" y="566928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MW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Electrolysis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956048" y="1097280"/>
            <a:ext cx="1627632" cy="0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56048" y="1234440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65776" y="11704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MW green H₂ capacity live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956048" y="1490472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65776" y="14264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corridor: Namibia/Chile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56048" y="1746504"/>
            <a:ext cx="64008" cy="64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65776" y="168249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€750M Delta Rhine Corridor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227771" y="3072384"/>
            <a:ext cx="21946" cy="38404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19288" y="2523744"/>
            <a:ext cx="438912" cy="438912"/>
          </a:xfrm>
          <a:prstGeom prst="ellipse">
            <a:avLst/>
          </a:prstGeom>
          <a:solidFill>
            <a:srgbClr val="0070C0">
              <a:alpha val="45000"/>
            </a:srgbClr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74152" y="2578608"/>
            <a:ext cx="329184" cy="329184"/>
          </a:xfrm>
          <a:prstGeom prst="ellipse">
            <a:avLst/>
          </a:prstGeom>
          <a:solidFill>
            <a:srgbClr val="0070C0"/>
          </a:solidFill>
          <a:ln w="25400">
            <a:solidFill>
              <a:srgbClr val="042B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9560" y="25968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836408" y="2962656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36408" y="29626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4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333488" y="3493008"/>
            <a:ext cx="1883664" cy="155448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96912" y="3456432"/>
            <a:ext cx="1883664" cy="1554480"/>
          </a:xfrm>
          <a:prstGeom prst="rect">
            <a:avLst/>
          </a:prstGeom>
          <a:solidFill>
            <a:srgbClr val="063940"/>
          </a:solidFill>
          <a:ln w="15240">
            <a:solidFill>
              <a:srgbClr val="0070C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96912" y="3456432"/>
            <a:ext cx="1883664" cy="3657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24928" y="3547872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 GW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424928" y="4078224"/>
            <a:ext cx="1627632" cy="0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24928" y="4215384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34656" y="415137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GW electrolyser target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424928" y="4471416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34656" y="440740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backbone pipeline complete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424928" y="4727448"/>
            <a:ext cx="64008" cy="64008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34656" y="46634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decarbonisation: 20%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0852099" y="2029968"/>
            <a:ext cx="21946" cy="384048"/>
          </a:xfrm>
          <a:prstGeom prst="rect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643616" y="2523744"/>
            <a:ext cx="438912" cy="438912"/>
          </a:xfrm>
          <a:prstGeom prst="ellipse">
            <a:avLst/>
          </a:prstGeom>
          <a:solidFill>
            <a:srgbClr val="E07030">
              <a:alpha val="45000"/>
            </a:srgbClr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698480" y="2578608"/>
            <a:ext cx="329184" cy="329184"/>
          </a:xfrm>
          <a:prstGeom prst="ellipse">
            <a:avLst/>
          </a:prstGeom>
          <a:solidFill>
            <a:srgbClr val="E07030"/>
          </a:solidFill>
          <a:ln w="25400">
            <a:solidFill>
              <a:srgbClr val="042B3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533888" y="25968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460736" y="228600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460736" y="22860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4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957816" y="512064"/>
            <a:ext cx="1883664" cy="155448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21240" y="475488"/>
            <a:ext cx="1883664" cy="1554480"/>
          </a:xfrm>
          <a:prstGeom prst="rect">
            <a:avLst/>
          </a:prstGeom>
          <a:solidFill>
            <a:srgbClr val="063940"/>
          </a:solidFill>
          <a:ln w="15240">
            <a:solidFill>
              <a:srgbClr val="E070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21240" y="475488"/>
            <a:ext cx="1883664" cy="36576"/>
          </a:xfrm>
          <a:prstGeom prst="rect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049256" y="566928"/>
            <a:ext cx="1627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 Europe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H₂ Hub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0049256" y="1097280"/>
            <a:ext cx="1627632" cy="0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049256" y="1234440"/>
            <a:ext cx="64008" cy="64008"/>
          </a:xfrm>
          <a:prstGeom prst="ellipse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158984" y="11704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 European H₂ hub role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0049256" y="1490472"/>
            <a:ext cx="64008" cy="64008"/>
          </a:xfrm>
          <a:prstGeom prst="ellipse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158984" y="14264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Mt/yr import + domestic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10049256" y="1746504"/>
            <a:ext cx="64008" cy="64008"/>
          </a:xfrm>
          <a:prstGeom prst="ellipse">
            <a:avLst/>
          </a:prstGeom>
          <a:solidFill>
            <a:srgbClr val="E07030"/>
          </a:solidFill>
          <a:ln w="12700">
            <a:solidFill>
              <a:srgbClr val="E070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158984" y="168249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€50B cumulative investment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02920" y="6053328"/>
            <a:ext cx="11384280" cy="658368"/>
          </a:xfrm>
          <a:prstGeom prst="rect">
            <a:avLst/>
          </a:prstGeom>
          <a:solidFill>
            <a:srgbClr val="063940"/>
          </a:solidFill>
          <a:ln w="6350">
            <a:solidFill>
              <a:srgbClr val="0A505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2920" y="6053328"/>
            <a:ext cx="113842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2648" y="6099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€15B</a:t>
            </a:r>
            <a:endParaRPr lang="en-US" sz="2000" dirty="0"/>
          </a:p>
        </p:txBody>
      </p:sp>
      <p:sp>
        <p:nvSpPr>
          <p:cNvPr id="102" name="Text 100"/>
          <p:cNvSpPr/>
          <p:nvPr/>
        </p:nvSpPr>
        <p:spPr>
          <a:xfrm>
            <a:off x="576072" y="64008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Private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2020–30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79776" y="6144768"/>
            <a:ext cx="0" cy="475488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89504" y="6099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MW</a:t>
            </a:r>
            <a:endParaRPr lang="en-US" sz="2000" dirty="0"/>
          </a:p>
        </p:txBody>
      </p:sp>
      <p:sp>
        <p:nvSpPr>
          <p:cNvPr id="105" name="Text 103"/>
          <p:cNvSpPr/>
          <p:nvPr/>
        </p:nvSpPr>
        <p:spPr>
          <a:xfrm>
            <a:off x="2852928" y="64008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Electrolysis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Target 2025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056632" y="6144768"/>
            <a:ext cx="0" cy="475488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66360" y="6099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 GW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5129784" y="64008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Target 2030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7333488" y="6144768"/>
            <a:ext cx="0" cy="475488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43216" y="6099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000" dirty="0"/>
          </a:p>
        </p:txBody>
      </p:sp>
      <p:sp>
        <p:nvSpPr>
          <p:cNvPr id="111" name="Text 109"/>
          <p:cNvSpPr/>
          <p:nvPr/>
        </p:nvSpPr>
        <p:spPr>
          <a:xfrm>
            <a:off x="7406640" y="64008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by 2030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610344" y="6144768"/>
            <a:ext cx="0" cy="475488"/>
          </a:xfrm>
          <a:prstGeom prst="line">
            <a:avLst/>
          </a:prstGeom>
          <a:noFill/>
          <a:ln w="9525">
            <a:solidFill>
              <a:srgbClr val="0A505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720072" y="60990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Mt</a:t>
            </a:r>
            <a:endParaRPr lang="en-US" sz="2000" dirty="0"/>
          </a:p>
        </p:txBody>
      </p:sp>
      <p:sp>
        <p:nvSpPr>
          <p:cNvPr id="114" name="Text 112"/>
          <p:cNvSpPr/>
          <p:nvPr/>
        </p:nvSpPr>
        <p:spPr>
          <a:xfrm>
            <a:off x="9683496" y="640080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H₂ Import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2035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502920" y="669340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Dutch Ministry of Economic Affairs &amp; Climate Policy | RVO Netherlands Enterprise Agency | Hydrogen Europe 2024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10561320" y="66934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B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McKinsey &amp; Company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 2020–2035</dc:title>
  <dc:subject>PptxGenJS Presentation</dc:subject>
  <dc:creator>McKinsey &amp; Company</dc:creator>
  <cp:lastModifiedBy>McKinsey &amp; Company</cp:lastModifiedBy>
  <cp:revision>1</cp:revision>
  <dcterms:created xsi:type="dcterms:W3CDTF">2026-03-08T07:58:53Z</dcterms:created>
  <dcterms:modified xsi:type="dcterms:W3CDTF">2026-03-08T07:58:53Z</dcterms:modified>
</cp:coreProperties>
</file>