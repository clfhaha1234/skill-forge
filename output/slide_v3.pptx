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Netherlands aims to become Europe's green hydrogen hub,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scaling from 500 MW to 3-4 GW by 2030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57200" y="1143000"/>
            <a:ext cx="11274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Dutch National Hydrogen Strategy timeline, 2020-2035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1274552" cy="0"/>
          </a:xfrm>
          <a:prstGeom prst="line">
            <a:avLst/>
          </a:prstGeom>
          <a:noFill/>
          <a:ln w="9525">
            <a:solidFill>
              <a:srgbClr val="C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651760"/>
            <a:ext cx="100584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2532888"/>
            <a:ext cx="237744" cy="237744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7" name="Text 5"/>
          <p:cNvSpPr/>
          <p:nvPr/>
        </p:nvSpPr>
        <p:spPr>
          <a:xfrm>
            <a:off x="704088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914400" y="2377440"/>
            <a:ext cx="0" cy="137160"/>
          </a:xfrm>
          <a:prstGeom prst="line">
            <a:avLst/>
          </a:prstGeom>
          <a:noFill/>
          <a:ln w="9525">
            <a:solidFill>
              <a:srgbClr val="0C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Hydrogen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published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807208" y="2532888"/>
            <a:ext cx="237744" cy="237744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1" name="Text 9"/>
          <p:cNvSpPr/>
          <p:nvPr/>
        </p:nvSpPr>
        <p:spPr>
          <a:xfrm>
            <a:off x="2715768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926080" y="2788920"/>
            <a:ext cx="0" cy="137160"/>
          </a:xfrm>
          <a:prstGeom prst="line">
            <a:avLst/>
          </a:prstGeom>
          <a:noFill/>
          <a:ln w="9525">
            <a:solidFill>
              <a:srgbClr val="0C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2926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REPowerEU plan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accelerates ambitions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818888" y="2532888"/>
            <a:ext cx="237744" cy="237744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4727448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4937760" y="2377440"/>
            <a:ext cx="0" cy="137160"/>
          </a:xfrm>
          <a:prstGeom prst="line">
            <a:avLst/>
          </a:prstGeom>
          <a:noFill/>
          <a:ln w="9525">
            <a:solidFill>
              <a:srgbClr val="0C23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green H2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 operational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830568" y="2532888"/>
            <a:ext cx="237744" cy="237744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19" name="Text 17"/>
          <p:cNvSpPr/>
          <p:nvPr/>
        </p:nvSpPr>
        <p:spPr>
          <a:xfrm>
            <a:off x="6739128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6949440" y="2788920"/>
            <a:ext cx="0" cy="137160"/>
          </a:xfrm>
          <a:prstGeom prst="line">
            <a:avLst/>
          </a:prstGeom>
          <a:noFill/>
          <a:ln w="9525">
            <a:solidFill>
              <a:srgbClr val="0C23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926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HyNetwork backbone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live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842248" y="2532888"/>
            <a:ext cx="237744" cy="237744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3" name="Text 21"/>
          <p:cNvSpPr/>
          <p:nvPr/>
        </p:nvSpPr>
        <p:spPr>
          <a:xfrm>
            <a:off x="8750808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8961120" y="2377440"/>
            <a:ext cx="0" cy="137160"/>
          </a:xfrm>
          <a:prstGeom prst="line">
            <a:avLst/>
          </a:prstGeom>
          <a:noFill/>
          <a:ln w="9525">
            <a:solidFill>
              <a:srgbClr val="0C23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1783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phase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10853928" y="2532888"/>
            <a:ext cx="237744" cy="237744"/>
          </a:xfrm>
          <a:prstGeom prst="ellipse">
            <a:avLst/>
          </a:prstGeom>
          <a:solidFill>
            <a:srgbClr val="0C2340"/>
          </a:solidFill>
          <a:ln/>
        </p:spPr>
      </p:sp>
      <p:sp>
        <p:nvSpPr>
          <p:cNvPr id="27" name="Text 25"/>
          <p:cNvSpPr/>
          <p:nvPr/>
        </p:nvSpPr>
        <p:spPr>
          <a:xfrm>
            <a:off x="10762488" y="2514600"/>
            <a:ext cx="4206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2035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10972800" y="2788920"/>
            <a:ext cx="0" cy="137160"/>
          </a:xfrm>
          <a:prstGeom prst="line">
            <a:avLst/>
          </a:prstGeom>
          <a:noFill/>
          <a:ln w="9525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332720" y="2926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 hydrogen corridor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66160"/>
          <a:ext cx="11274552" cy="914400"/>
        </p:xfrm>
        <a:graphic>
          <a:graphicData uri="http://schemas.openxmlformats.org/drawingml/2006/table">
            <a:tbl>
              <a:tblPr/>
              <a:tblGrid>
                <a:gridCol w="2130552"/>
                <a:gridCol w="1828800"/>
                <a:gridCol w="1828800"/>
                <a:gridCol w="1828800"/>
                <a:gridCol w="182880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2028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2030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C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2035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Electrolyzer capacity (GW)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Green H2 cost (EUR/kg)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2.5-3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CO2 reduction (Mt/yr)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4040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15+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23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1" name="Text 28"/>
          <p:cNvSpPr/>
          <p:nvPr/>
        </p:nvSpPr>
        <p:spPr>
          <a:xfrm>
            <a:off x="457200" y="502920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Capacity and cost projections based on Dutch government targets and McKinsey Energy Insights analysis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457200" y="6035040"/>
            <a:ext cx="11274552" cy="0"/>
          </a:xfrm>
          <a:prstGeom prst="line">
            <a:avLst/>
          </a:prstGeom>
          <a:noFill/>
          <a:ln w="6350">
            <a:solidFill>
              <a:srgbClr val="33333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57200" y="60807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Dutch National Hydrogen Strategy; REPowerEU; McKinsey Energy Insights</a:t>
            </a:r>
            <a:endParaRPr lang="en-US" sz="700" dirty="0"/>
          </a:p>
        </p:txBody>
      </p:sp>
      <p:sp>
        <p:nvSpPr>
          <p:cNvPr id="34" name="Text 31"/>
          <p:cNvSpPr/>
          <p:nvPr/>
        </p:nvSpPr>
        <p:spPr>
          <a:xfrm>
            <a:off x="8686800" y="6080760"/>
            <a:ext cx="30449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McKinsey &amp; Company</a:t>
            </a:r>
            <a:pPr algn="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Dutch Hydrogen Strategy</dc:title>
  <dc:subject>PptxGenJS Presentation</dc:subject>
  <dc:creator>McKinsey &amp; Company</dc:creator>
  <cp:lastModifiedBy>McKinsey &amp; Company</cp:lastModifiedBy>
  <cp:revision>1</cp:revision>
  <dcterms:created xsi:type="dcterms:W3CDTF">2026-03-07T23:54:53Z</dcterms:created>
  <dcterms:modified xsi:type="dcterms:W3CDTF">2026-03-07T23:54:53Z</dcterms:modified>
</cp:coreProperties>
</file>