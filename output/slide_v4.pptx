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Netherlands aims to become Europe's green hydrogen hub, scaling from 500 MW to 3–4 GW by 2030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74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Dutch Hydrogen Strategy: Key milestones and targets (2020–2035)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1274552" cy="0"/>
          </a:xfrm>
          <a:prstGeom prst="line">
            <a:avLst/>
          </a:prstGeom>
          <a:noFill/>
          <a:ln w="9525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560320"/>
            <a:ext cx="10543032" cy="0"/>
          </a:xfrm>
          <a:prstGeom prst="line">
            <a:avLst/>
          </a:prstGeom>
          <a:noFill/>
          <a:ln w="25400">
            <a:solidFill>
              <a:srgbClr val="0C23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4088" y="2441448"/>
            <a:ext cx="237744" cy="237744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24414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822960" y="2304288"/>
            <a:ext cx="0" cy="137160"/>
          </a:xfrm>
          <a:prstGeom prst="line">
            <a:avLst/>
          </a:prstGeom>
          <a:noFill/>
          <a:ln w="12700">
            <a:solidFill>
              <a:srgbClr val="0C23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2880" y="18928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Hydrogen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published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812694" y="2441448"/>
            <a:ext cx="237744" cy="237744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11" name="Text 9"/>
          <p:cNvSpPr/>
          <p:nvPr/>
        </p:nvSpPr>
        <p:spPr>
          <a:xfrm>
            <a:off x="2812694" y="24414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2931566" y="2679192"/>
            <a:ext cx="0" cy="137160"/>
          </a:xfrm>
          <a:prstGeom prst="line">
            <a:avLst/>
          </a:prstGeom>
          <a:noFill/>
          <a:ln w="12700">
            <a:solidFill>
              <a:srgbClr val="0C23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91486" y="2816352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REPowerEU plan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accelerates ambitions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921301" y="2441448"/>
            <a:ext cx="237744" cy="237744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15" name="Text 13"/>
          <p:cNvSpPr/>
          <p:nvPr/>
        </p:nvSpPr>
        <p:spPr>
          <a:xfrm>
            <a:off x="4921301" y="24414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5040173" y="2304288"/>
            <a:ext cx="0" cy="137160"/>
          </a:xfrm>
          <a:prstGeom prst="line">
            <a:avLst/>
          </a:prstGeom>
          <a:noFill/>
          <a:ln w="12700">
            <a:solidFill>
              <a:srgbClr val="0C23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00093" y="18928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green H2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hubs operational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029907" y="2441448"/>
            <a:ext cx="237744" cy="237744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19" name="Text 17"/>
          <p:cNvSpPr/>
          <p:nvPr/>
        </p:nvSpPr>
        <p:spPr>
          <a:xfrm>
            <a:off x="7029907" y="24414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7148779" y="2679192"/>
            <a:ext cx="0" cy="137160"/>
          </a:xfrm>
          <a:prstGeom prst="line">
            <a:avLst/>
          </a:prstGeom>
          <a:noFill/>
          <a:ln w="12700">
            <a:solidFill>
              <a:srgbClr val="0C234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08699" y="2816352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HyNetwork backbone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9138514" y="2441448"/>
            <a:ext cx="237744" cy="237744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23" name="Text 21"/>
          <p:cNvSpPr/>
          <p:nvPr/>
        </p:nvSpPr>
        <p:spPr>
          <a:xfrm>
            <a:off x="9138514" y="24414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9257386" y="2304288"/>
            <a:ext cx="0" cy="137160"/>
          </a:xfrm>
          <a:prstGeom prst="line">
            <a:avLst/>
          </a:prstGeom>
          <a:noFill/>
          <a:ln w="12700">
            <a:solidFill>
              <a:srgbClr val="0C234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17306" y="18928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Scale-up phase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11247120" y="2441448"/>
            <a:ext cx="237744" cy="237744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27" name="Text 25"/>
          <p:cNvSpPr/>
          <p:nvPr/>
        </p:nvSpPr>
        <p:spPr>
          <a:xfrm>
            <a:off x="11247120" y="24414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11365992" y="2679192"/>
            <a:ext cx="0" cy="137160"/>
          </a:xfrm>
          <a:prstGeom prst="line">
            <a:avLst/>
          </a:prstGeom>
          <a:noFill/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725912" y="2816352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hydrogen corridor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8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83280"/>
          <a:ext cx="11274552" cy="914400"/>
        </p:xfrm>
        <a:graphic>
          <a:graphicData uri="http://schemas.openxmlformats.org/drawingml/2006/table">
            <a:tbl>
              <a:tblPr/>
              <a:tblGrid>
                <a:gridCol w="2587752"/>
                <a:gridCol w="1737360"/>
                <a:gridCol w="1737360"/>
                <a:gridCol w="1737360"/>
                <a:gridCol w="1737360"/>
                <a:gridCol w="1737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C23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C23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C23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C23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C23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C23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Electrolyzer capacity (GW)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6–8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 H₂ cost (€/kg)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6.0–8.0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4.0–5.0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2.5–3.5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1.5–2.5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1.0–1.5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H₂ production (kt/yr)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100–200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300–500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800–1,200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1" name="Text 28"/>
          <p:cNvSpPr/>
          <p:nvPr/>
        </p:nvSpPr>
        <p:spPr>
          <a:xfrm>
            <a:off x="457200" y="4754880"/>
            <a:ext cx="11274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Capacity and cost projections are indicative targets based on national and EU policy documents; actual figures may vary.</a:t>
            </a:r>
            <a:endParaRPr lang="en-US" sz="650" dirty="0"/>
          </a:p>
        </p:txBody>
      </p:sp>
      <p:sp>
        <p:nvSpPr>
          <p:cNvPr id="32" name="Shape 29"/>
          <p:cNvSpPr/>
          <p:nvPr/>
        </p:nvSpPr>
        <p:spPr>
          <a:xfrm>
            <a:off x="457200" y="5897880"/>
            <a:ext cx="11274552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7200" y="5943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Dutch Ministry of Economic Affairs and Climate Policy; European Commission REPowerEU; HyNetwork Services</a:t>
            </a:r>
            <a:endParaRPr lang="en-US" sz="700" dirty="0"/>
          </a:p>
        </p:txBody>
      </p:sp>
      <p:sp>
        <p:nvSpPr>
          <p:cNvPr id="34" name="Text 31"/>
          <p:cNvSpPr/>
          <p:nvPr/>
        </p:nvSpPr>
        <p:spPr>
          <a:xfrm>
            <a:off x="8686800" y="5943600"/>
            <a:ext cx="3044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McKinsey &amp; Company</a:t>
            </a:r>
            <a:pPr algn="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Dutch Hydrogen Strategy 2020-2035</dc:title>
  <dc:subject>PptxGenJS Presentation</dc:subject>
  <dc:creator>McKinsey &amp; Company</dc:creator>
  <cp:lastModifiedBy>McKinsey &amp; Company</cp:lastModifiedBy>
  <cp:revision>1</cp:revision>
  <dcterms:created xsi:type="dcterms:W3CDTF">2026-03-07T23:57:36Z</dcterms:created>
  <dcterms:modified xsi:type="dcterms:W3CDTF">2026-03-07T23:57:36Z</dcterms:modified>
</cp:coreProperties>
</file>