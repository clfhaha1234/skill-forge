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11274552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200" b="1" dirty="0">
                <a:solidFill>
                  <a:srgbClr val="000000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Netherlands aims to become Europe's green hydrogen hub, scaling from 500 MW to 3–4 GW by 2030</a:t>
            </a:r>
            <a:endParaRPr lang="en-US" sz="2200" dirty="0"/>
          </a:p>
        </p:txBody>
      </p:sp>
      <p:sp>
        <p:nvSpPr>
          <p:cNvPr id="3" name="Text 1"/>
          <p:cNvSpPr/>
          <p:nvPr/>
        </p:nvSpPr>
        <p:spPr>
          <a:xfrm>
            <a:off x="457200" y="1097280"/>
            <a:ext cx="1127455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88888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Dutch National Hydrogen Strategy timeline and key capacity milestones (2020–2035)</a:t>
            </a:r>
            <a:endParaRPr lang="en-US" sz="10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11274552" cy="0"/>
          </a:xfrm>
          <a:prstGeom prst="line">
            <a:avLst/>
          </a:prstGeom>
          <a:noFill/>
          <a:ln w="9525">
            <a:solidFill>
              <a:srgbClr val="333333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2286000"/>
            <a:ext cx="10058400" cy="0"/>
          </a:xfrm>
          <a:prstGeom prst="line">
            <a:avLst/>
          </a:prstGeom>
          <a:noFill/>
          <a:ln w="25400">
            <a:solidFill>
              <a:srgbClr val="0C2340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914400" y="2011680"/>
            <a:ext cx="0" cy="274320"/>
          </a:xfrm>
          <a:prstGeom prst="line">
            <a:avLst/>
          </a:prstGeom>
          <a:noFill/>
          <a:ln w="12700">
            <a:solidFill>
              <a:srgbClr val="0C234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95528" y="2167128"/>
            <a:ext cx="237744" cy="237744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8" name="Text 6"/>
          <p:cNvSpPr/>
          <p:nvPr/>
        </p:nvSpPr>
        <p:spPr>
          <a:xfrm>
            <a:off x="795528" y="2167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2020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182880" y="15087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Hydrogen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Strategy published</a:t>
            </a:r>
            <a:endParaRPr lang="en-US" sz="850" dirty="0"/>
          </a:p>
        </p:txBody>
      </p:sp>
      <p:sp>
        <p:nvSpPr>
          <p:cNvPr id="10" name="Shape 8"/>
          <p:cNvSpPr/>
          <p:nvPr/>
        </p:nvSpPr>
        <p:spPr>
          <a:xfrm>
            <a:off x="2926080" y="2286000"/>
            <a:ext cx="0" cy="274320"/>
          </a:xfrm>
          <a:prstGeom prst="line">
            <a:avLst/>
          </a:prstGeom>
          <a:noFill/>
          <a:ln w="12700">
            <a:solidFill>
              <a:srgbClr val="0C234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2807208" y="2167128"/>
            <a:ext cx="237744" cy="237744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12" name="Text 10"/>
          <p:cNvSpPr/>
          <p:nvPr/>
        </p:nvSpPr>
        <p:spPr>
          <a:xfrm>
            <a:off x="2807208" y="2167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2022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2194560" y="26060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REPowerEU plan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accelerates ambitions</a:t>
            </a:r>
            <a:endParaRPr lang="en-US" sz="850" dirty="0"/>
          </a:p>
        </p:txBody>
      </p:sp>
      <p:sp>
        <p:nvSpPr>
          <p:cNvPr id="14" name="Shape 12"/>
          <p:cNvSpPr/>
          <p:nvPr/>
        </p:nvSpPr>
        <p:spPr>
          <a:xfrm>
            <a:off x="4937760" y="2011680"/>
            <a:ext cx="0" cy="274320"/>
          </a:xfrm>
          <a:prstGeom prst="line">
            <a:avLst/>
          </a:prstGeom>
          <a:noFill/>
          <a:ln w="12700">
            <a:solidFill>
              <a:srgbClr val="0C234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818888" y="2167128"/>
            <a:ext cx="237744" cy="237744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16" name="Text 14"/>
          <p:cNvSpPr/>
          <p:nvPr/>
        </p:nvSpPr>
        <p:spPr>
          <a:xfrm>
            <a:off x="4818888" y="2167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2025</a:t>
            </a:r>
            <a:endParaRPr lang="en-US" sz="750" dirty="0"/>
          </a:p>
        </p:txBody>
      </p:sp>
      <p:sp>
        <p:nvSpPr>
          <p:cNvPr id="17" name="Text 15"/>
          <p:cNvSpPr/>
          <p:nvPr/>
        </p:nvSpPr>
        <p:spPr>
          <a:xfrm>
            <a:off x="4206240" y="15087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green H2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hubs operational</a:t>
            </a:r>
            <a:endParaRPr lang="en-US" sz="850" dirty="0"/>
          </a:p>
        </p:txBody>
      </p:sp>
      <p:sp>
        <p:nvSpPr>
          <p:cNvPr id="18" name="Shape 16"/>
          <p:cNvSpPr/>
          <p:nvPr/>
        </p:nvSpPr>
        <p:spPr>
          <a:xfrm>
            <a:off x="6949440" y="2286000"/>
            <a:ext cx="0" cy="274320"/>
          </a:xfrm>
          <a:prstGeom prst="line">
            <a:avLst/>
          </a:prstGeom>
          <a:noFill/>
          <a:ln w="12700">
            <a:solidFill>
              <a:srgbClr val="0C234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6830568" y="2167128"/>
            <a:ext cx="237744" cy="237744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20" name="Text 18"/>
          <p:cNvSpPr/>
          <p:nvPr/>
        </p:nvSpPr>
        <p:spPr>
          <a:xfrm>
            <a:off x="6830568" y="2167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2028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6217920" y="26060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HyNetwork backbone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live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8961120" y="2011680"/>
            <a:ext cx="0" cy="274320"/>
          </a:xfrm>
          <a:prstGeom prst="line">
            <a:avLst/>
          </a:prstGeom>
          <a:noFill/>
          <a:ln w="12700">
            <a:solidFill>
              <a:srgbClr val="0C234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8842248" y="2167128"/>
            <a:ext cx="237744" cy="237744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24" name="Text 22"/>
          <p:cNvSpPr/>
          <p:nvPr/>
        </p:nvSpPr>
        <p:spPr>
          <a:xfrm>
            <a:off x="8842248" y="2167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2030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8229600" y="150876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Scale-up phase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</a:t>
            </a:r>
            <a:endParaRPr lang="en-US" sz="850" dirty="0"/>
          </a:p>
        </p:txBody>
      </p:sp>
      <p:sp>
        <p:nvSpPr>
          <p:cNvPr id="26" name="Shape 24"/>
          <p:cNvSpPr/>
          <p:nvPr/>
        </p:nvSpPr>
        <p:spPr>
          <a:xfrm>
            <a:off x="10972800" y="2286000"/>
            <a:ext cx="0" cy="274320"/>
          </a:xfrm>
          <a:prstGeom prst="line">
            <a:avLst/>
          </a:prstGeom>
          <a:noFill/>
          <a:ln w="12700">
            <a:solidFill>
              <a:srgbClr val="0C234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10853928" y="2167128"/>
            <a:ext cx="237744" cy="237744"/>
          </a:xfrm>
          <a:prstGeom prst="ellipse">
            <a:avLst/>
          </a:prstGeom>
          <a:solidFill>
            <a:srgbClr val="0C2340"/>
          </a:solidFill>
          <a:ln/>
        </p:spPr>
      </p:sp>
      <p:sp>
        <p:nvSpPr>
          <p:cNvPr id="28" name="Text 26"/>
          <p:cNvSpPr/>
          <p:nvPr/>
        </p:nvSpPr>
        <p:spPr>
          <a:xfrm>
            <a:off x="10853928" y="2167128"/>
            <a:ext cx="237744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2035</a:t>
            </a:r>
            <a:endParaRPr lang="en-US" sz="750" dirty="0"/>
          </a:p>
        </p:txBody>
      </p:sp>
      <p:sp>
        <p:nvSpPr>
          <p:cNvPr id="29" name="Text 27"/>
          <p:cNvSpPr/>
          <p:nvPr/>
        </p:nvSpPr>
        <p:spPr>
          <a:xfrm>
            <a:off x="10241280" y="26060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EU hydrogen corridor</a:t>
            </a:r>
            <a:endParaRPr lang="en-US" sz="850" dirty="0"/>
          </a:p>
          <a:p>
            <a:pPr algn="ctr" indent="0" marL="0">
              <a:buNone/>
            </a:pPr>
            <a:r>
              <a:rPr lang="en-US" sz="850" dirty="0">
                <a:solidFill>
                  <a:srgbClr val="40404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integration</a:t>
            </a:r>
            <a:endParaRPr lang="en-US" sz="85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3200400"/>
          <a:ext cx="11274552" cy="914400"/>
        </p:xfrm>
        <a:graphic>
          <a:graphicData uri="http://schemas.openxmlformats.org/drawingml/2006/table">
            <a:tbl>
              <a:tblPr/>
              <a:tblGrid>
                <a:gridCol w="2130552"/>
                <a:gridCol w="1828800"/>
                <a:gridCol w="1828800"/>
                <a:gridCol w="1828800"/>
                <a:gridCol w="1828800"/>
                <a:gridCol w="1828800"/>
              </a:tblGrid>
              <a:tr h="32004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0C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Metric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C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C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C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2028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C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2030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900" b="1" dirty="0">
                          <a:solidFill>
                            <a:srgbClr val="0C23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2035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Electrolyzer capacity (GW)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~0.01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2.0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3–4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8+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Green H2 production (kt/yr)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&lt;1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~200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~500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~1,200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8E8E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9260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00" b="1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Infrastructure investment (€bn)</a:t>
                      </a:r>
                      <a:endParaRPr lang="en-US" sz="9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0.5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3.5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9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15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ctr" indent="0" marL="0">
                        <a:buNone/>
                      </a:pPr>
                      <a:r>
                        <a:rPr lang="en-US" sz="800" dirty="0">
                          <a:solidFill>
                            <a:srgbClr val="40404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25+</a:t>
                      </a:r>
                      <a:endParaRPr lang="en-US" sz="8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50800" marR="50800" marT="25400" marB="25400">
                    <a:lnL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0" cap="flat" cmpd="sng" algn="ctr">
                      <a:solidFill>
                        <a:srgbClr val="FFFFF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0C234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31" name="Text 28"/>
          <p:cNvSpPr/>
          <p:nvPr/>
        </p:nvSpPr>
        <p:spPr>
          <a:xfrm>
            <a:off x="457200" y="4572000"/>
            <a:ext cx="112745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650" i="1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Note: Capacity targets reflect government ambitions as of 2024; actual deployment subject to policy and market conditions.</a:t>
            </a:r>
            <a:endParaRPr lang="en-US" sz="650" dirty="0"/>
          </a:p>
        </p:txBody>
      </p:sp>
      <p:sp>
        <p:nvSpPr>
          <p:cNvPr id="32" name="Shape 29"/>
          <p:cNvSpPr/>
          <p:nvPr/>
        </p:nvSpPr>
        <p:spPr>
          <a:xfrm>
            <a:off x="457200" y="5852160"/>
            <a:ext cx="11274552" cy="0"/>
          </a:xfrm>
          <a:prstGeom prst="line">
            <a:avLst/>
          </a:prstGeom>
          <a:noFill/>
          <a:ln w="6350">
            <a:solidFill>
              <a:srgbClr val="333333"/>
            </a:solidFill>
            <a:prstDash val="solid"/>
          </a:ln>
        </p:spPr>
      </p:sp>
      <p:sp>
        <p:nvSpPr>
          <p:cNvPr id="33" name="Text 30"/>
          <p:cNvSpPr/>
          <p:nvPr/>
        </p:nvSpPr>
        <p:spPr>
          <a:xfrm>
            <a:off x="457200" y="5897880"/>
            <a:ext cx="7315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00" dirty="0">
                <a:solidFill>
                  <a:srgbClr val="9999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Source: Government of the Netherlands, National Hydrogen Strategy; European Commission, REPowerEU Plan (2022).</a:t>
            </a:r>
            <a:endParaRPr lang="en-US" sz="700" dirty="0"/>
          </a:p>
        </p:txBody>
      </p:sp>
      <p:sp>
        <p:nvSpPr>
          <p:cNvPr id="34" name="Text 31"/>
          <p:cNvSpPr/>
          <p:nvPr/>
        </p:nvSpPr>
        <p:spPr>
          <a:xfrm>
            <a:off x="7772400" y="5897880"/>
            <a:ext cx="39593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McKinsey &amp; Company</a:t>
            </a:r>
            <a:pPr algn="r" indent="0" marL="0">
              <a:buNone/>
            </a:pPr>
            <a:r>
              <a:rPr lang="en-US" sz="800" dirty="0">
                <a:solidFill>
                  <a:srgbClr val="00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 1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Dutch Hydrogen Strategy</dc:title>
  <dc:subject>PptxGenJS Presentation</dc:subject>
  <dc:creator>McKinsey &amp; Company</dc:creator>
  <cp:lastModifiedBy>McKinsey &amp; Company</cp:lastModifiedBy>
  <cp:revision>1</cp:revision>
  <dcterms:created xsi:type="dcterms:W3CDTF">2026-03-08T00:00:41Z</dcterms:created>
  <dcterms:modified xsi:type="dcterms:W3CDTF">2026-03-08T00:00:41Z</dcterms:modified>
</cp:coreProperties>
</file>